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Raleway" pitchFamily="2" charset="0"/>
      <p:regular r:id="rId14"/>
    </p:embeddedFont>
    <p:embeddedFont>
      <p:font typeface="Raleway Medium" pitchFamily="2" charset="0"/>
      <p:regular r:id="rId15"/>
    </p:embeddedFont>
    <p:embeddedFont>
      <p:font typeface="Raleway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08050" y="2014066"/>
            <a:ext cx="5746778" cy="6258867"/>
          </a:xfrm>
          <a:custGeom>
            <a:avLst/>
            <a:gdLst/>
            <a:ahLst/>
            <a:cxnLst/>
            <a:rect l="l" t="t" r="r" b="b"/>
            <a:pathLst>
              <a:path w="5746778" h="6258867">
                <a:moveTo>
                  <a:pt x="0" y="0"/>
                </a:moveTo>
                <a:lnTo>
                  <a:pt x="5746778" y="0"/>
                </a:lnTo>
                <a:lnTo>
                  <a:pt x="5746778" y="6258868"/>
                </a:lnTo>
                <a:lnTo>
                  <a:pt x="0" y="625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" y="2722173"/>
            <a:ext cx="9829800" cy="3385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3086"/>
              </a:lnSpc>
            </a:pPr>
            <a:r>
              <a:rPr lang="en-US" sz="14540" b="1" u="sng" spc="-668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BUSINESS ANALYTICS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7080709"/>
            <a:ext cx="1039870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950"/>
              </a:lnSpc>
            </a:pPr>
            <a:r>
              <a:rPr lang="en-US" sz="4800" b="1" spc="-253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DATASET- Life Expectancy by W.H.O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1104900"/>
            <a:ext cx="9179504" cy="38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 Team 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46079" y="1920197"/>
            <a:ext cx="6270790" cy="6446606"/>
          </a:xfrm>
          <a:custGeom>
            <a:avLst/>
            <a:gdLst/>
            <a:ahLst/>
            <a:cxnLst/>
            <a:rect l="l" t="t" r="r" b="b"/>
            <a:pathLst>
              <a:path w="6270790" h="6446606">
                <a:moveTo>
                  <a:pt x="0" y="0"/>
                </a:moveTo>
                <a:lnTo>
                  <a:pt x="6270790" y="0"/>
                </a:lnTo>
                <a:lnTo>
                  <a:pt x="6270790" y="6446606"/>
                </a:lnTo>
                <a:lnTo>
                  <a:pt x="0" y="6446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219200" y="2646729"/>
            <a:ext cx="7924800" cy="239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u="sng" spc="-46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ANALYSIS COVERED: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388909"/>
            <a:ext cx="7635008" cy="513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 u="sng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Descriptive</a:t>
            </a:r>
          </a:p>
          <a:p>
            <a:pPr marL="932181" lvl="2" indent="-237491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Descriptive Statistics</a:t>
            </a:r>
          </a:p>
          <a:p>
            <a:pPr marL="932181" lvl="2" indent="-237491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Correlation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 u="sng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Diagnostic</a:t>
            </a:r>
          </a:p>
          <a:p>
            <a:pPr marL="932181" lvl="2" indent="-237491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Testing of Hypothesis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 u="sng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Predictive</a:t>
            </a:r>
          </a:p>
          <a:p>
            <a:pPr marL="932181" lvl="2" indent="-237491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Regression </a:t>
            </a:r>
          </a:p>
          <a:p>
            <a:pPr marL="932181" lvl="2" indent="-237491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Forecasting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 u="sng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Prescriptive</a:t>
            </a:r>
          </a:p>
          <a:p>
            <a:pPr marL="932181" lvl="2" indent="-237491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Goal Seek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 u="sng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Visualization</a:t>
            </a:r>
          </a:p>
          <a:p>
            <a:pPr algn="l">
              <a:lnSpc>
                <a:spcPts val="3080"/>
              </a:lnSpc>
            </a:pPr>
            <a:endParaRPr lang="en-US" sz="2200" b="1" u="sng" dirty="0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3080"/>
              </a:lnSpc>
            </a:pPr>
            <a:endParaRPr lang="en-US" sz="2200" b="1" u="sng" dirty="0">
              <a:solidFill>
                <a:srgbClr val="00694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7386" y="242856"/>
            <a:ext cx="1267374" cy="1238437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280276" y="5336398"/>
            <a:ext cx="17727448" cy="3921902"/>
          </a:xfrm>
          <a:custGeom>
            <a:avLst/>
            <a:gdLst/>
            <a:ahLst/>
            <a:cxnLst/>
            <a:rect l="l" t="t" r="r" b="b"/>
            <a:pathLst>
              <a:path w="17727448" h="3921902">
                <a:moveTo>
                  <a:pt x="0" y="0"/>
                </a:moveTo>
                <a:lnTo>
                  <a:pt x="17727448" y="0"/>
                </a:lnTo>
                <a:lnTo>
                  <a:pt x="17727448" y="3921902"/>
                </a:lnTo>
                <a:lnTo>
                  <a:pt x="0" y="3921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0" r="-550" b="-396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5991" y="529445"/>
            <a:ext cx="5172955" cy="156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898"/>
              </a:lnSpc>
            </a:pPr>
            <a:r>
              <a:rPr lang="en-US" sz="6554" b="1" spc="-30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DESCRIPTIVE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5285" y="3148404"/>
            <a:ext cx="7062315" cy="603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6441" lvl="1" algn="ctr">
              <a:lnSpc>
                <a:spcPts val="5141"/>
              </a:lnSpc>
            </a:pPr>
            <a:r>
              <a:rPr lang="en-US" sz="3672" b="1" u="sng" spc="-168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Summary Statistics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5991" y="4309743"/>
            <a:ext cx="6464019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 b="1" spc="-119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Impact of Diseases Globally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7386" y="242856"/>
            <a:ext cx="1267374" cy="1238437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212519" y="3311115"/>
            <a:ext cx="9313063" cy="6437288"/>
          </a:xfrm>
          <a:custGeom>
            <a:avLst/>
            <a:gdLst/>
            <a:ahLst/>
            <a:cxnLst/>
            <a:rect l="l" t="t" r="r" b="b"/>
            <a:pathLst>
              <a:path w="9313063" h="6437288">
                <a:moveTo>
                  <a:pt x="0" y="0"/>
                </a:moveTo>
                <a:lnTo>
                  <a:pt x="9313063" y="0"/>
                </a:lnTo>
                <a:lnTo>
                  <a:pt x="9313063" y="6437289"/>
                </a:lnTo>
                <a:lnTo>
                  <a:pt x="0" y="6437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9" b="-23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6095" y="685692"/>
            <a:ext cx="5780905" cy="1560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5898"/>
              </a:lnSpc>
            </a:pPr>
            <a:r>
              <a:rPr lang="en-US" sz="6554" b="1" spc="-30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DESCRIPTIVE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5990" y="2471254"/>
            <a:ext cx="6829209" cy="603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6441" lvl="1" algn="ctr">
              <a:lnSpc>
                <a:spcPts val="5141"/>
              </a:lnSpc>
            </a:pPr>
            <a:r>
              <a:rPr lang="en-US" sz="3672" b="1" u="sng" spc="-168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Correlation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25582" y="3524602"/>
            <a:ext cx="6990286" cy="719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4755" lvl="1" indent="-222377" algn="ctr">
              <a:lnSpc>
                <a:spcPts val="2884"/>
              </a:lnSpc>
              <a:buFont typeface="Arial"/>
              <a:buChar char="•"/>
            </a:pPr>
            <a:r>
              <a:rPr lang="en-US" sz="2060" b="1" spc="-94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more the country develops their production levels the more they develop and therby increasing the schooling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19745" y="4834353"/>
            <a:ext cx="7579400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 tend to die less often due to the prime reason of Alcohol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2563" y="6128567"/>
            <a:ext cx="7945437" cy="75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Women tend to die more often due to the prime reason of Alcohol compared to men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25582" y="7588178"/>
            <a:ext cx="6796802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BMI  and Hepatits B(Women) has negative relationship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25582" y="8654351"/>
            <a:ext cx="7579400" cy="75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BMI  and Hepatits B(Men) have weak relationship but stronger than women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372" y="8084666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60934" y="3409846"/>
            <a:ext cx="9323057" cy="5378094"/>
          </a:xfrm>
          <a:custGeom>
            <a:avLst/>
            <a:gdLst/>
            <a:ahLst/>
            <a:cxnLst/>
            <a:rect l="l" t="t" r="r" b="b"/>
            <a:pathLst>
              <a:path w="9323057" h="5378094">
                <a:moveTo>
                  <a:pt x="0" y="0"/>
                </a:moveTo>
                <a:lnTo>
                  <a:pt x="9323056" y="0"/>
                </a:lnTo>
                <a:lnTo>
                  <a:pt x="9323056" y="5378094"/>
                </a:lnTo>
                <a:lnTo>
                  <a:pt x="0" y="5378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43193" y="334079"/>
            <a:ext cx="8281172" cy="203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652"/>
              </a:lnSpc>
            </a:pPr>
            <a:r>
              <a:rPr lang="en-US" sz="8502" b="1" spc="-39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DIAGNOSTIC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52" y="2519979"/>
            <a:ext cx="8410948" cy="655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7683" lvl="1" indent="-413841" algn="ctr">
              <a:lnSpc>
                <a:spcPts val="5367"/>
              </a:lnSpc>
              <a:buFont typeface="Arial"/>
              <a:buChar char="•"/>
            </a:pPr>
            <a:r>
              <a:rPr lang="en-US" sz="3833" b="1" u="sng" spc="-176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Testing of Hypothesis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83990" y="3495532"/>
            <a:ext cx="8504010" cy="113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566" lvl="1" indent="-233283" algn="l">
              <a:lnSpc>
                <a:spcPts val="3025"/>
              </a:lnSpc>
              <a:buFont typeface="Arial"/>
              <a:buChar char="•"/>
            </a:pPr>
            <a:r>
              <a:rPr lang="en-US" sz="2161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Null Hypothesis: Vaccination rates of men and women are same</a:t>
            </a:r>
          </a:p>
          <a:p>
            <a:pPr marL="466566" lvl="1" indent="-233283" algn="l">
              <a:lnSpc>
                <a:spcPts val="3025"/>
              </a:lnSpc>
              <a:buFont typeface="Arial"/>
              <a:buChar char="•"/>
            </a:pPr>
            <a:r>
              <a:rPr lang="en-US" sz="2161" spc="-99">
                <a:solidFill>
                  <a:srgbClr val="00694C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161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lternative hypothesis: Vaccination rates of men and women are not same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75779" y="5086350"/>
            <a:ext cx="8312221" cy="1356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 b="1" spc="-11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Since the p-value (p&gt;0.05, we fail to reject the null hypothesis.</a:t>
            </a:r>
          </a:p>
          <a:p>
            <a:pPr algn="l">
              <a:lnSpc>
                <a:spcPts val="3357"/>
              </a:lnSpc>
            </a:pPr>
            <a:r>
              <a:rPr lang="en-US" sz="2398" b="1" spc="-11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means there is no significant difference between the mean vaccination rates for men and women for Hepatitis B.</a:t>
            </a:r>
          </a:p>
          <a:p>
            <a:pPr algn="l">
              <a:lnSpc>
                <a:spcPts val="501"/>
              </a:lnSpc>
              <a:spcBef>
                <a:spcPct val="0"/>
              </a:spcBef>
            </a:pPr>
            <a:endParaRPr lang="en-US" sz="2398" b="1" spc="-110">
              <a:solidFill>
                <a:srgbClr val="00694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372" y="8084666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61054" y="3403680"/>
            <a:ext cx="6667937" cy="2619547"/>
          </a:xfrm>
          <a:custGeom>
            <a:avLst/>
            <a:gdLst/>
            <a:ahLst/>
            <a:cxnLst/>
            <a:rect l="l" t="t" r="r" b="b"/>
            <a:pathLst>
              <a:path w="6667937" h="2619547">
                <a:moveTo>
                  <a:pt x="0" y="0"/>
                </a:moveTo>
                <a:lnTo>
                  <a:pt x="6667937" y="0"/>
                </a:lnTo>
                <a:lnTo>
                  <a:pt x="6667937" y="2619546"/>
                </a:lnTo>
                <a:lnTo>
                  <a:pt x="0" y="26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61054" y="6443068"/>
            <a:ext cx="6667937" cy="3625691"/>
          </a:xfrm>
          <a:custGeom>
            <a:avLst/>
            <a:gdLst/>
            <a:ahLst/>
            <a:cxnLst/>
            <a:rect l="l" t="t" r="r" b="b"/>
            <a:pathLst>
              <a:path w="6667937" h="3625691">
                <a:moveTo>
                  <a:pt x="0" y="0"/>
                </a:moveTo>
                <a:lnTo>
                  <a:pt x="6667937" y="0"/>
                </a:lnTo>
                <a:lnTo>
                  <a:pt x="6667937" y="3625691"/>
                </a:lnTo>
                <a:lnTo>
                  <a:pt x="0" y="3625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43193" y="334079"/>
            <a:ext cx="8281172" cy="203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652"/>
              </a:lnSpc>
            </a:pPr>
            <a:r>
              <a:rPr lang="en-US" sz="8502" b="1" spc="-39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DIAGNOSTIC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52" y="2519979"/>
            <a:ext cx="8281172" cy="655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7683" lvl="1" indent="-413841" algn="ctr">
              <a:lnSpc>
                <a:spcPts val="5367"/>
              </a:lnSpc>
              <a:buFont typeface="Arial"/>
              <a:buChar char="•"/>
            </a:pPr>
            <a:r>
              <a:rPr lang="en-US" sz="3833" b="1" u="sng" spc="-176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Testing of Hypothesis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60114" y="3356055"/>
            <a:ext cx="9390692" cy="75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566" lvl="1" indent="-233283" algn="l">
              <a:lnSpc>
                <a:spcPts val="3025"/>
              </a:lnSpc>
              <a:buFont typeface="Arial"/>
              <a:buChar char="•"/>
            </a:pPr>
            <a:r>
              <a:rPr lang="en-US" sz="2161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Null Hypothesis: μmen​=μwomen​</a:t>
            </a:r>
          </a:p>
          <a:p>
            <a:pPr marL="466566" lvl="1" indent="-233283" algn="l">
              <a:lnSpc>
                <a:spcPts val="3025"/>
              </a:lnSpc>
              <a:buFont typeface="Arial"/>
              <a:buChar char="•"/>
            </a:pPr>
            <a:r>
              <a:rPr lang="en-US" sz="2161" spc="-99">
                <a:solidFill>
                  <a:srgbClr val="00694C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161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lternative hypothesis: μmen​ not equal to μwomen​).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60114" y="6662739"/>
            <a:ext cx="8312221" cy="113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Since the p-value 0.76&gt;0.05, we fail to reject the null hypothesis.</a:t>
            </a:r>
          </a:p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indicates there is no significant difference in life expectancy between men and women.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60114" y="4308894"/>
            <a:ext cx="8906607" cy="76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783" lvl="1" indent="-235392" algn="l">
              <a:lnSpc>
                <a:spcPts val="3052"/>
              </a:lnSpc>
              <a:buFont typeface="Arial"/>
              <a:buChar char="•"/>
            </a:pPr>
            <a:r>
              <a:rPr lang="en-US" sz="2180" b="1" spc="-10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 0.45&gt;0.05: Null Hypothesis accepted, hence going to perform T-test assuming equal variance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49045" y="373790"/>
            <a:ext cx="904092" cy="980770"/>
          </a:xfrm>
          <a:custGeom>
            <a:avLst/>
            <a:gdLst/>
            <a:ahLst/>
            <a:cxnLst/>
            <a:rect l="l" t="t" r="r" b="b"/>
            <a:pathLst>
              <a:path w="904092" h="980770">
                <a:moveTo>
                  <a:pt x="0" y="0"/>
                </a:moveTo>
                <a:lnTo>
                  <a:pt x="904092" y="0"/>
                </a:lnTo>
                <a:lnTo>
                  <a:pt x="904092" y="980770"/>
                </a:lnTo>
                <a:lnTo>
                  <a:pt x="0" y="98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358961" y="4051753"/>
            <a:ext cx="11301259" cy="4986681"/>
          </a:xfrm>
          <a:custGeom>
            <a:avLst/>
            <a:gdLst/>
            <a:ahLst/>
            <a:cxnLst/>
            <a:rect l="l" t="t" r="r" b="b"/>
            <a:pathLst>
              <a:path w="11301259" h="4986681">
                <a:moveTo>
                  <a:pt x="0" y="0"/>
                </a:moveTo>
                <a:lnTo>
                  <a:pt x="11301259" y="0"/>
                </a:lnTo>
                <a:lnTo>
                  <a:pt x="11301259" y="4986681"/>
                </a:lnTo>
                <a:lnTo>
                  <a:pt x="0" y="4986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8961" y="607621"/>
            <a:ext cx="7691184" cy="168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326"/>
              </a:lnSpc>
            </a:pPr>
            <a:r>
              <a:rPr lang="en-US" sz="7029" b="1" spc="-32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PREDICTIVE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961" y="2786960"/>
            <a:ext cx="5435853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6898" lvl="1" indent="-413449" algn="ctr">
              <a:lnSpc>
                <a:spcPts val="5362"/>
              </a:lnSpc>
              <a:buFont typeface="Arial"/>
              <a:buChar char="•"/>
            </a:pPr>
            <a:r>
              <a:rPr lang="en-US" sz="3830" b="1" u="sng" spc="-176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Regression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43964" y="4418754"/>
            <a:ext cx="5415336" cy="75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Multiple R shows strong correlation between Variables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59702" y="326165"/>
            <a:ext cx="948934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spc="-10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 (Dependent)=Schooling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 spc="-10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X (Independent) = Total Expenditure and Income composition of resources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43964" y="6497469"/>
            <a:ext cx="5415336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States the Significance of Relationship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43964" y="8013756"/>
            <a:ext cx="5415336" cy="75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P&lt;0.05 shows how strongly the variables are influencing the Schooling Globally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9702" y="1306935"/>
            <a:ext cx="9489343" cy="75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l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How Total Expenditure and Income of Resources across various countries are influeing Schooling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49045" y="373790"/>
            <a:ext cx="904092" cy="980770"/>
          </a:xfrm>
          <a:custGeom>
            <a:avLst/>
            <a:gdLst/>
            <a:ahLst/>
            <a:cxnLst/>
            <a:rect l="l" t="t" r="r" b="b"/>
            <a:pathLst>
              <a:path w="904092" h="980770">
                <a:moveTo>
                  <a:pt x="0" y="0"/>
                </a:moveTo>
                <a:lnTo>
                  <a:pt x="904092" y="0"/>
                </a:lnTo>
                <a:lnTo>
                  <a:pt x="904092" y="980770"/>
                </a:lnTo>
                <a:lnTo>
                  <a:pt x="0" y="98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079529" y="3461203"/>
            <a:ext cx="917070" cy="1366906"/>
          </a:xfrm>
          <a:custGeom>
            <a:avLst/>
            <a:gdLst/>
            <a:ahLst/>
            <a:cxnLst/>
            <a:rect l="l" t="t" r="r" b="b"/>
            <a:pathLst>
              <a:path w="917070" h="1366906">
                <a:moveTo>
                  <a:pt x="0" y="0"/>
                </a:moveTo>
                <a:lnTo>
                  <a:pt x="917070" y="0"/>
                </a:lnTo>
                <a:lnTo>
                  <a:pt x="917070" y="1366907"/>
                </a:lnTo>
                <a:lnTo>
                  <a:pt x="0" y="1366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769" y="3564160"/>
            <a:ext cx="965481" cy="1327536"/>
          </a:xfrm>
          <a:custGeom>
            <a:avLst/>
            <a:gdLst/>
            <a:ahLst/>
            <a:cxnLst/>
            <a:rect l="l" t="t" r="r" b="b"/>
            <a:pathLst>
              <a:path w="965481" h="1327536">
                <a:moveTo>
                  <a:pt x="0" y="0"/>
                </a:moveTo>
                <a:lnTo>
                  <a:pt x="965481" y="0"/>
                </a:lnTo>
                <a:lnTo>
                  <a:pt x="965481" y="1327536"/>
                </a:lnTo>
                <a:lnTo>
                  <a:pt x="0" y="1327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92631" y="4994653"/>
            <a:ext cx="8703968" cy="3982065"/>
          </a:xfrm>
          <a:custGeom>
            <a:avLst/>
            <a:gdLst/>
            <a:ahLst/>
            <a:cxnLst/>
            <a:rect l="l" t="t" r="r" b="b"/>
            <a:pathLst>
              <a:path w="8703968" h="3982065">
                <a:moveTo>
                  <a:pt x="0" y="0"/>
                </a:moveTo>
                <a:lnTo>
                  <a:pt x="8703968" y="0"/>
                </a:lnTo>
                <a:lnTo>
                  <a:pt x="8703968" y="3982065"/>
                </a:lnTo>
                <a:lnTo>
                  <a:pt x="0" y="3982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5674" y="4994653"/>
            <a:ext cx="8210444" cy="3982065"/>
          </a:xfrm>
          <a:custGeom>
            <a:avLst/>
            <a:gdLst/>
            <a:ahLst/>
            <a:cxnLst/>
            <a:rect l="l" t="t" r="r" b="b"/>
            <a:pathLst>
              <a:path w="8210444" h="3982065">
                <a:moveTo>
                  <a:pt x="0" y="0"/>
                </a:moveTo>
                <a:lnTo>
                  <a:pt x="8210444" y="0"/>
                </a:lnTo>
                <a:lnTo>
                  <a:pt x="8210444" y="3982065"/>
                </a:lnTo>
                <a:lnTo>
                  <a:pt x="0" y="39820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8961" y="611040"/>
            <a:ext cx="7691184" cy="167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7029" b="1" u="sng" spc="-323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PREDICTIVE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961" y="2786960"/>
            <a:ext cx="5435853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6898" lvl="1" indent="-413449" algn="l">
              <a:lnSpc>
                <a:spcPts val="5362"/>
              </a:lnSpc>
              <a:buFont typeface="Arial"/>
              <a:buChar char="•"/>
            </a:pPr>
            <a:r>
              <a:rPr lang="en-US" sz="3830" b="1" u="sng" spc="-176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Forecasting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8809" y="4292489"/>
            <a:ext cx="6107391" cy="354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Indian Men Forecasted value for 10 years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74141" y="4292489"/>
            <a:ext cx="6725050" cy="354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Indian Women Forecasted value for 10 years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24690" y="1911801"/>
            <a:ext cx="9434610" cy="354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Forecasted Life Expectancy of both Men and Women for the next 10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49045" y="373790"/>
            <a:ext cx="904092" cy="980770"/>
          </a:xfrm>
          <a:custGeom>
            <a:avLst/>
            <a:gdLst/>
            <a:ahLst/>
            <a:cxnLst/>
            <a:rect l="l" t="t" r="r" b="b"/>
            <a:pathLst>
              <a:path w="904092" h="980770">
                <a:moveTo>
                  <a:pt x="0" y="0"/>
                </a:moveTo>
                <a:lnTo>
                  <a:pt x="904092" y="0"/>
                </a:lnTo>
                <a:lnTo>
                  <a:pt x="904092" y="980770"/>
                </a:lnTo>
                <a:lnTo>
                  <a:pt x="0" y="98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447834" y="4188828"/>
            <a:ext cx="7660005" cy="5220284"/>
          </a:xfrm>
          <a:custGeom>
            <a:avLst/>
            <a:gdLst/>
            <a:ahLst/>
            <a:cxnLst/>
            <a:rect l="l" t="t" r="r" b="b"/>
            <a:pathLst>
              <a:path w="7660005" h="5220284">
                <a:moveTo>
                  <a:pt x="0" y="0"/>
                </a:moveTo>
                <a:lnTo>
                  <a:pt x="7660006" y="0"/>
                </a:lnTo>
                <a:lnTo>
                  <a:pt x="7660006" y="5220284"/>
                </a:lnTo>
                <a:lnTo>
                  <a:pt x="0" y="5220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98503" y="4188828"/>
            <a:ext cx="7560797" cy="5239808"/>
          </a:xfrm>
          <a:custGeom>
            <a:avLst/>
            <a:gdLst/>
            <a:ahLst/>
            <a:cxnLst/>
            <a:rect l="l" t="t" r="r" b="b"/>
            <a:pathLst>
              <a:path w="7560797" h="5239808">
                <a:moveTo>
                  <a:pt x="0" y="0"/>
                </a:moveTo>
                <a:lnTo>
                  <a:pt x="7560797" y="0"/>
                </a:lnTo>
                <a:lnTo>
                  <a:pt x="7560797" y="5239808"/>
                </a:lnTo>
                <a:lnTo>
                  <a:pt x="0" y="5239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7834" y="691800"/>
            <a:ext cx="8236031" cy="142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598" lvl="1" algn="l">
              <a:lnSpc>
                <a:spcPts val="5474"/>
              </a:lnSpc>
            </a:pPr>
            <a:r>
              <a:rPr lang="en-US" sz="6082" b="1" spc="-279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PRESCRIPTIVE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7834" y="2968059"/>
            <a:ext cx="7145795" cy="41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523" lvl="1" indent="-254761" algn="l">
              <a:lnSpc>
                <a:spcPts val="3303"/>
              </a:lnSpc>
              <a:buFont typeface="Arial"/>
              <a:buChar char="•"/>
            </a:pPr>
            <a:r>
              <a:rPr lang="en-US" sz="2359" b="1" spc="-10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Income = 0.028426 + 0.04995707  x  Schooling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7834" y="2412597"/>
            <a:ext cx="6562566" cy="389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9525" lvl="1" indent="-254762" algn="ctr">
              <a:lnSpc>
                <a:spcPts val="3304"/>
              </a:lnSpc>
              <a:buFont typeface="Arial"/>
              <a:buChar char="•"/>
            </a:pPr>
            <a:r>
              <a:rPr lang="en-US" sz="2360" b="1" spc="-108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Equation Established using Regression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7834" y="3527240"/>
            <a:ext cx="14672102" cy="41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525" lvl="1" indent="-254762" algn="l">
              <a:lnSpc>
                <a:spcPts val="3304"/>
              </a:lnSpc>
              <a:buFont typeface="Arial"/>
              <a:buChar char="•"/>
            </a:pPr>
            <a:r>
              <a:rPr lang="en-US" sz="2360" b="1" spc="-10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Interpretation: To reach 1 unit Income level, the respective country has to reach average schooling of 12.75 years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49045" y="373790"/>
            <a:ext cx="904092" cy="980770"/>
          </a:xfrm>
          <a:custGeom>
            <a:avLst/>
            <a:gdLst/>
            <a:ahLst/>
            <a:cxnLst/>
            <a:rect l="l" t="t" r="r" b="b"/>
            <a:pathLst>
              <a:path w="904092" h="980770">
                <a:moveTo>
                  <a:pt x="0" y="0"/>
                </a:moveTo>
                <a:lnTo>
                  <a:pt x="904092" y="0"/>
                </a:lnTo>
                <a:lnTo>
                  <a:pt x="904092" y="980770"/>
                </a:lnTo>
                <a:lnTo>
                  <a:pt x="0" y="98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915425" y="2591452"/>
            <a:ext cx="5585855" cy="3156008"/>
          </a:xfrm>
          <a:custGeom>
            <a:avLst/>
            <a:gdLst/>
            <a:ahLst/>
            <a:cxnLst/>
            <a:rect l="l" t="t" r="r" b="b"/>
            <a:pathLst>
              <a:path w="5585855" h="3156008">
                <a:moveTo>
                  <a:pt x="0" y="0"/>
                </a:moveTo>
                <a:lnTo>
                  <a:pt x="5585855" y="0"/>
                </a:lnTo>
                <a:lnTo>
                  <a:pt x="5585855" y="3156008"/>
                </a:lnTo>
                <a:lnTo>
                  <a:pt x="0" y="3156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34654" y="2630143"/>
            <a:ext cx="5524646" cy="3320665"/>
          </a:xfrm>
          <a:custGeom>
            <a:avLst/>
            <a:gdLst/>
            <a:ahLst/>
            <a:cxnLst/>
            <a:rect l="l" t="t" r="r" b="b"/>
            <a:pathLst>
              <a:path w="5524646" h="3320665">
                <a:moveTo>
                  <a:pt x="0" y="0"/>
                </a:moveTo>
                <a:lnTo>
                  <a:pt x="5524646" y="0"/>
                </a:lnTo>
                <a:lnTo>
                  <a:pt x="5524646" y="3320665"/>
                </a:lnTo>
                <a:lnTo>
                  <a:pt x="0" y="3320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8352" y="6897736"/>
            <a:ext cx="4650674" cy="2986589"/>
          </a:xfrm>
          <a:custGeom>
            <a:avLst/>
            <a:gdLst/>
            <a:ahLst/>
            <a:cxnLst/>
            <a:rect l="l" t="t" r="r" b="b"/>
            <a:pathLst>
              <a:path w="4650674" h="2986589">
                <a:moveTo>
                  <a:pt x="0" y="0"/>
                </a:moveTo>
                <a:lnTo>
                  <a:pt x="4650675" y="0"/>
                </a:lnTo>
                <a:lnTo>
                  <a:pt x="4650675" y="2986589"/>
                </a:lnTo>
                <a:lnTo>
                  <a:pt x="0" y="2986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67" r="-346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61503" y="6839640"/>
            <a:ext cx="5495321" cy="3251398"/>
          </a:xfrm>
          <a:custGeom>
            <a:avLst/>
            <a:gdLst/>
            <a:ahLst/>
            <a:cxnLst/>
            <a:rect l="l" t="t" r="r" b="b"/>
            <a:pathLst>
              <a:path w="5495321" h="3251398">
                <a:moveTo>
                  <a:pt x="0" y="0"/>
                </a:moveTo>
                <a:lnTo>
                  <a:pt x="5495321" y="0"/>
                </a:lnTo>
                <a:lnTo>
                  <a:pt x="5495321" y="3251398"/>
                </a:lnTo>
                <a:lnTo>
                  <a:pt x="0" y="3251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7834" y="688514"/>
            <a:ext cx="6333966" cy="715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5474"/>
              </a:lnSpc>
            </a:pPr>
            <a:r>
              <a:rPr lang="en-US" sz="6082" b="1" spc="-279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VISUALIZATION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2300" y="1931404"/>
            <a:ext cx="1527334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PIE Chart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8105" y="1931404"/>
            <a:ext cx="1669256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BAR Chart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08352" y="6302811"/>
            <a:ext cx="1508998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BOX Plot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07949" y="6302811"/>
            <a:ext cx="1732598" cy="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344" lvl="1" indent="-233172" algn="ctr">
              <a:lnSpc>
                <a:spcPts val="3024"/>
              </a:lnSpc>
              <a:buFont typeface="Arial"/>
              <a:buChar char="•"/>
            </a:pPr>
            <a:r>
              <a:rPr lang="en-US" sz="2160" b="1" spc="-9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Heat Maps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9200" y="2646761"/>
            <a:ext cx="8915400" cy="5212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3331"/>
              </a:lnSpc>
            </a:pPr>
            <a:r>
              <a:rPr lang="en-US" sz="14812" b="1" spc="-681" dirty="0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very much!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8877297"/>
            <a:ext cx="9179504" cy="38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Team 6</a:t>
            </a:r>
          </a:p>
        </p:txBody>
      </p:sp>
      <p:sp>
        <p:nvSpPr>
          <p:cNvPr id="5" name="Freeform 5"/>
          <p:cNvSpPr/>
          <p:nvPr/>
        </p:nvSpPr>
        <p:spPr>
          <a:xfrm>
            <a:off x="11867657" y="1376536"/>
            <a:ext cx="5561408" cy="7533927"/>
          </a:xfrm>
          <a:custGeom>
            <a:avLst/>
            <a:gdLst/>
            <a:ahLst/>
            <a:cxnLst/>
            <a:rect l="l" t="t" r="r" b="b"/>
            <a:pathLst>
              <a:path w="5561408" h="7533927">
                <a:moveTo>
                  <a:pt x="0" y="0"/>
                </a:moveTo>
                <a:lnTo>
                  <a:pt x="5561408" y="0"/>
                </a:lnTo>
                <a:lnTo>
                  <a:pt x="5561408" y="7533928"/>
                </a:lnTo>
                <a:lnTo>
                  <a:pt x="0" y="7533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694C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396</Words>
  <Application>Microsoft Office PowerPoint</Application>
  <PresentationFormat>Custom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Raleway Medium</vt:lpstr>
      <vt:lpstr>Raleway Semi-Bold</vt:lpstr>
      <vt:lpstr>Canva Sans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Team 6</dc:title>
  <cp:lastModifiedBy>Sai Nitish</cp:lastModifiedBy>
  <cp:revision>2</cp:revision>
  <dcterms:created xsi:type="dcterms:W3CDTF">2006-08-16T00:00:00Z</dcterms:created>
  <dcterms:modified xsi:type="dcterms:W3CDTF">2026-10-08T07:51:54Z</dcterms:modified>
  <dc:identifier>DAGbbgEKnms</dc:identifier>
</cp:coreProperties>
</file>